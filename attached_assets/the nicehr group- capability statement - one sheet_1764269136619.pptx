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10058400" cx="7772400"/>
  <p:notesSz cx="6858000" cy="9144000"/>
  <p:embeddedFontLst>
    <p:embeddedFont>
      <p:font typeface="Montserrat"/>
      <p:regular r:id="rId7"/>
      <p:bold r:id="rId8"/>
      <p:italic r:id="rId9"/>
      <p:boldItalic r:id="rId10"/>
    </p:embeddedFont>
    <p:embeddedFont>
      <p:font typeface="Montserrat Medium"/>
      <p:regular r:id="rId11"/>
      <p:bold r:id="rId12"/>
      <p:italic r:id="rId13"/>
      <p:boldItalic r:id="rId14"/>
    </p:embeddedFont>
    <p:embeddedFont>
      <p:font typeface="Montserrat ExtraBold"/>
      <p:bold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  <p15:guide id="3" pos="288">
          <p15:clr>
            <a:srgbClr val="747775"/>
          </p15:clr>
        </p15:guide>
        <p15:guide id="4" pos="4608">
          <p15:clr>
            <a:srgbClr val="747775"/>
          </p15:clr>
        </p15:guide>
        <p15:guide id="5" orient="horz" pos="288">
          <p15:clr>
            <a:srgbClr val="747775"/>
          </p15:clr>
        </p15:guide>
        <p15:guide id="6" orient="horz" pos="6048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168" orient="horz"/>
        <p:guide pos="2448"/>
        <p:guide pos="288"/>
        <p:guide pos="4608"/>
        <p:guide pos="288" orient="horz"/>
        <p:guide pos="6048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Montserrat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Montserrat-regular.fntdata"/><Relationship Id="rId8" Type="http://schemas.openxmlformats.org/officeDocument/2006/relationships/font" Target="fonts/Montserrat-bold.fntdata"/><Relationship Id="rId11" Type="http://schemas.openxmlformats.org/officeDocument/2006/relationships/font" Target="fonts/MontserratMedium-regular.fntdata"/><Relationship Id="rId10" Type="http://schemas.openxmlformats.org/officeDocument/2006/relationships/font" Target="fonts/Montserrat-boldItalic.fntdata"/><Relationship Id="rId13" Type="http://schemas.openxmlformats.org/officeDocument/2006/relationships/font" Target="fonts/MontserratMedium-italic.fntdata"/><Relationship Id="rId12" Type="http://schemas.openxmlformats.org/officeDocument/2006/relationships/font" Target="fonts/MontserratMedium-bold.fntdata"/><Relationship Id="rId15" Type="http://schemas.openxmlformats.org/officeDocument/2006/relationships/font" Target="fonts/MontserratExtraBold-bold.fntdata"/><Relationship Id="rId14" Type="http://schemas.openxmlformats.org/officeDocument/2006/relationships/font" Target="fonts/MontserratMedium-boldItalic.fntdata"/><Relationship Id="rId16" Type="http://schemas.openxmlformats.org/officeDocument/2006/relationships/font" Target="fonts/MontserratExtraBold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56b99ebef5_0_14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56b99ebef5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62646A"/>
                </a:solidFill>
                <a:highlight>
                  <a:srgbClr val="FAFAFA"/>
                </a:highlight>
              </a:rPr>
              <a:t>1.</a:t>
            </a:r>
            <a:r>
              <a:rPr lang="en" sz="1050" strike="sngStrike">
                <a:solidFill>
                  <a:srgbClr val="62646A"/>
                </a:solidFill>
                <a:highlight>
                  <a:srgbClr val="FAFAFA"/>
                </a:highlight>
              </a:rPr>
              <a:t> Introduction about your business. </a:t>
            </a:r>
            <a:endParaRPr sz="1050" strike="sngStrike">
              <a:solidFill>
                <a:srgbClr val="62646A"/>
              </a:solidFill>
              <a:highlight>
                <a:srgbClr val="FAFAFA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62646A"/>
                </a:solidFill>
                <a:highlight>
                  <a:srgbClr val="FAFAFA"/>
                </a:highlight>
              </a:rPr>
              <a:t>2. </a:t>
            </a:r>
            <a:r>
              <a:rPr lang="en" sz="1050" strike="sngStrike">
                <a:solidFill>
                  <a:srgbClr val="62646A"/>
                </a:solidFill>
                <a:highlight>
                  <a:srgbClr val="FAFAFA"/>
                </a:highlight>
              </a:rPr>
              <a:t>Core Competencies (List of products and services you are offering and images if you have) </a:t>
            </a:r>
            <a:endParaRPr sz="1050" strike="sngStrike">
              <a:solidFill>
                <a:srgbClr val="62646A"/>
              </a:solidFill>
              <a:highlight>
                <a:srgbClr val="FAFAFA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62646A"/>
                </a:solidFill>
                <a:highlight>
                  <a:srgbClr val="FAFAFA"/>
                </a:highlight>
              </a:rPr>
              <a:t>3. NAICS, FCS &amp; PSC Codes </a:t>
            </a:r>
            <a:endParaRPr sz="1050">
              <a:solidFill>
                <a:srgbClr val="62646A"/>
              </a:solidFill>
              <a:highlight>
                <a:srgbClr val="FAFAFA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62646A"/>
                </a:solidFill>
                <a:highlight>
                  <a:srgbClr val="FAFAFA"/>
                </a:highlight>
              </a:rPr>
              <a:t>4. </a:t>
            </a:r>
            <a:r>
              <a:rPr lang="en" sz="1050" strike="sngStrike">
                <a:solidFill>
                  <a:srgbClr val="62646A"/>
                </a:solidFill>
                <a:highlight>
                  <a:srgbClr val="FAFAFA"/>
                </a:highlight>
              </a:rPr>
              <a:t>Past Performance </a:t>
            </a:r>
            <a:endParaRPr sz="1050" strike="sngStrike">
              <a:solidFill>
                <a:srgbClr val="62646A"/>
              </a:solidFill>
              <a:highlight>
                <a:srgbClr val="FAFAFA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strike="sngStrike">
                <a:solidFill>
                  <a:srgbClr val="62646A"/>
                </a:solidFill>
                <a:highlight>
                  <a:srgbClr val="FAFAFA"/>
                </a:highlight>
              </a:rPr>
              <a:t>5. Expected Future Performance</a:t>
            </a:r>
            <a:endParaRPr sz="1050" strike="sngStrike">
              <a:solidFill>
                <a:srgbClr val="62646A"/>
              </a:solidFill>
              <a:highlight>
                <a:srgbClr val="FAFAFA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62646A"/>
                </a:solidFill>
                <a:highlight>
                  <a:srgbClr val="FAFAFA"/>
                </a:highlight>
              </a:rPr>
              <a:t> 6.</a:t>
            </a:r>
            <a:r>
              <a:rPr lang="en" sz="1050" strike="sngStrike">
                <a:solidFill>
                  <a:srgbClr val="62646A"/>
                </a:solidFill>
                <a:highlight>
                  <a:srgbClr val="FAFAFA"/>
                </a:highlight>
              </a:rPr>
              <a:t> Differentiators </a:t>
            </a:r>
            <a:endParaRPr sz="1050" strike="sngStrike">
              <a:solidFill>
                <a:srgbClr val="62646A"/>
              </a:solidFill>
              <a:highlight>
                <a:srgbClr val="FAFAFA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62646A"/>
                </a:solidFill>
                <a:highlight>
                  <a:srgbClr val="FAFAFA"/>
                </a:highlight>
              </a:rPr>
              <a:t>7. </a:t>
            </a:r>
            <a:r>
              <a:rPr lang="en" sz="1050" strike="sngStrike">
                <a:solidFill>
                  <a:srgbClr val="62646A"/>
                </a:solidFill>
                <a:highlight>
                  <a:srgbClr val="FAFAFA"/>
                </a:highlight>
              </a:rPr>
              <a:t>Certifications </a:t>
            </a:r>
            <a:endParaRPr sz="1050" strike="sngStrike">
              <a:solidFill>
                <a:srgbClr val="62646A"/>
              </a:solidFill>
              <a:highlight>
                <a:srgbClr val="FAFAFA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strike="sngStrike">
                <a:solidFill>
                  <a:srgbClr val="62646A"/>
                </a:solidFill>
                <a:highlight>
                  <a:srgbClr val="FAFAFA"/>
                </a:highlight>
              </a:rPr>
              <a:t>8. Company's detail ( Company name, e mail address, contact details, location, owner name etc)</a:t>
            </a:r>
            <a:endParaRPr sz="1050" strike="sngStrike">
              <a:solidFill>
                <a:srgbClr val="62646A"/>
              </a:solidFill>
              <a:highlight>
                <a:srgbClr val="FAFAFA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 strike="sngStrike">
              <a:solidFill>
                <a:srgbClr val="62646A"/>
              </a:solidFill>
              <a:highlight>
                <a:srgbClr val="FAFAFA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62646A"/>
              </a:solidFill>
              <a:highlight>
                <a:srgbClr val="FAFAFA"/>
              </a:highlight>
            </a:endParaRPr>
          </a:p>
          <a:p>
            <a:pPr indent="-96520" lvl="0" marL="9144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141"/>
              </a:buClr>
              <a:buSzPts val="800"/>
              <a:buFont typeface="Montserrat"/>
              <a:buChar char="●"/>
            </a:pPr>
            <a:r>
              <a:rPr lang="en" sz="800">
                <a:solidFill>
                  <a:srgbClr val="404141"/>
                </a:solidFill>
                <a:latin typeface="Montserrat"/>
                <a:ea typeface="Montserrat"/>
                <a:cs typeface="Montserrat"/>
                <a:sym typeface="Montserrat"/>
              </a:rPr>
              <a:t>Microsoft Certified Partner</a:t>
            </a:r>
            <a:endParaRPr sz="800">
              <a:solidFill>
                <a:srgbClr val="40414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96520" lvl="0" marL="9144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141"/>
              </a:buClr>
              <a:buSzPts val="800"/>
              <a:buFont typeface="Montserrat"/>
              <a:buChar char="●"/>
            </a:pPr>
            <a:r>
              <a:rPr lang="en" sz="800">
                <a:solidFill>
                  <a:srgbClr val="404141"/>
                </a:solidFill>
                <a:latin typeface="Montserrat"/>
                <a:ea typeface="Montserrat"/>
                <a:cs typeface="Montserrat"/>
                <a:sym typeface="Montserrat"/>
              </a:rPr>
              <a:t>Apple Developer</a:t>
            </a:r>
            <a:endParaRPr sz="800">
              <a:solidFill>
                <a:srgbClr val="40414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96520" lvl="0" marL="9144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141"/>
              </a:buClr>
              <a:buSzPts val="800"/>
              <a:buFont typeface="Montserrat"/>
              <a:buChar char="●"/>
            </a:pPr>
            <a:r>
              <a:rPr lang="en" sz="800">
                <a:solidFill>
                  <a:srgbClr val="404141"/>
                </a:solidFill>
                <a:latin typeface="Montserrat"/>
                <a:ea typeface="Montserrat"/>
                <a:cs typeface="Montserrat"/>
                <a:sym typeface="Montserrat"/>
              </a:rPr>
              <a:t>Oracle Partner</a:t>
            </a:r>
            <a:endParaRPr sz="800">
              <a:solidFill>
                <a:srgbClr val="40414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96520" lvl="0" marL="9144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141"/>
              </a:buClr>
              <a:buSzPts val="800"/>
              <a:buFont typeface="Montserrat"/>
              <a:buChar char="●"/>
            </a:pPr>
            <a:r>
              <a:rPr lang="en" sz="800">
                <a:solidFill>
                  <a:srgbClr val="404141"/>
                </a:solidFill>
                <a:latin typeface="Montserrat"/>
                <a:ea typeface="Montserrat"/>
                <a:cs typeface="Montserrat"/>
                <a:sym typeface="Montserrat"/>
              </a:rPr>
              <a:t>Microsoft .NET</a:t>
            </a:r>
            <a:endParaRPr sz="800">
              <a:solidFill>
                <a:srgbClr val="40414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96520" lvl="0" marL="9144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141"/>
              </a:buClr>
              <a:buSzPts val="800"/>
              <a:buFont typeface="Montserrat"/>
              <a:buChar char="●"/>
            </a:pPr>
            <a:r>
              <a:rPr lang="en" sz="800">
                <a:solidFill>
                  <a:srgbClr val="404141"/>
                </a:solidFill>
                <a:latin typeface="Montserrat"/>
                <a:ea typeface="Montserrat"/>
                <a:cs typeface="Montserrat"/>
                <a:sym typeface="Montserrat"/>
              </a:rPr>
              <a:t>Microsoft SQL Server</a:t>
            </a:r>
            <a:endParaRPr sz="800">
              <a:solidFill>
                <a:srgbClr val="40414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96520" lvl="0" marL="9144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141"/>
              </a:buClr>
              <a:buSzPts val="800"/>
              <a:buFont typeface="Montserrat"/>
              <a:buChar char="●"/>
            </a:pPr>
            <a:r>
              <a:rPr lang="en" sz="800">
                <a:solidFill>
                  <a:srgbClr val="404141"/>
                </a:solidFill>
                <a:latin typeface="Montserrat"/>
                <a:ea typeface="Montserrat"/>
                <a:cs typeface="Montserrat"/>
                <a:sym typeface="Montserrat"/>
              </a:rPr>
              <a:t>Microsoft Azure Government</a:t>
            </a:r>
            <a:endParaRPr sz="800">
              <a:solidFill>
                <a:srgbClr val="40414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96520" lvl="0" marL="9144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141"/>
              </a:buClr>
              <a:buSzPts val="800"/>
              <a:buFont typeface="Montserrat"/>
              <a:buChar char="●"/>
            </a:pPr>
            <a:r>
              <a:rPr lang="en" sz="800">
                <a:solidFill>
                  <a:srgbClr val="404141"/>
                </a:solidFill>
                <a:latin typeface="Montserrat"/>
                <a:ea typeface="Montserrat"/>
                <a:cs typeface="Montserrat"/>
                <a:sym typeface="Montserrat"/>
              </a:rPr>
              <a:t>Amazon AWS GovCloud</a:t>
            </a:r>
            <a:endParaRPr sz="1050">
              <a:solidFill>
                <a:srgbClr val="62646A"/>
              </a:solidFill>
              <a:highlight>
                <a:srgbClr val="FAFAFA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62646A"/>
              </a:solidFill>
              <a:highlight>
                <a:srgbClr val="FAFAFA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62646A"/>
              </a:solidFill>
              <a:highlight>
                <a:srgbClr val="FAFAFA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62646A"/>
              </a:solidFill>
              <a:highlight>
                <a:srgbClr val="FAFAFA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62646A"/>
              </a:solidFill>
              <a:highlight>
                <a:srgbClr val="FAFAFA"/>
              </a:highlight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198575" y="1415969"/>
            <a:ext cx="3261600" cy="722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20" Type="http://schemas.openxmlformats.org/officeDocument/2006/relationships/image" Target="../media/image10.jpg"/><Relationship Id="rId22" Type="http://schemas.openxmlformats.org/officeDocument/2006/relationships/image" Target="../media/image27.png"/><Relationship Id="rId21" Type="http://schemas.openxmlformats.org/officeDocument/2006/relationships/image" Target="../media/image15.png"/><Relationship Id="rId24" Type="http://schemas.openxmlformats.org/officeDocument/2006/relationships/image" Target="../media/image19.png"/><Relationship Id="rId23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png"/><Relationship Id="rId4" Type="http://schemas.openxmlformats.org/officeDocument/2006/relationships/image" Target="../media/image1.png"/><Relationship Id="rId9" Type="http://schemas.openxmlformats.org/officeDocument/2006/relationships/image" Target="../media/image8.png"/><Relationship Id="rId26" Type="http://schemas.openxmlformats.org/officeDocument/2006/relationships/image" Target="../media/image20.png"/><Relationship Id="rId25" Type="http://schemas.openxmlformats.org/officeDocument/2006/relationships/image" Target="../media/image18.png"/><Relationship Id="rId28" Type="http://schemas.openxmlformats.org/officeDocument/2006/relationships/image" Target="../media/image26.png"/><Relationship Id="rId27" Type="http://schemas.openxmlformats.org/officeDocument/2006/relationships/image" Target="../media/image24.png"/><Relationship Id="rId5" Type="http://schemas.openxmlformats.org/officeDocument/2006/relationships/image" Target="../media/image23.png"/><Relationship Id="rId6" Type="http://schemas.openxmlformats.org/officeDocument/2006/relationships/image" Target="../media/image5.jpg"/><Relationship Id="rId29" Type="http://schemas.openxmlformats.org/officeDocument/2006/relationships/image" Target="../media/image21.png"/><Relationship Id="rId7" Type="http://schemas.openxmlformats.org/officeDocument/2006/relationships/image" Target="../media/image3.png"/><Relationship Id="rId8" Type="http://schemas.openxmlformats.org/officeDocument/2006/relationships/image" Target="../media/image13.jpg"/><Relationship Id="rId30" Type="http://schemas.openxmlformats.org/officeDocument/2006/relationships/hyperlink" Target="http://www.thenicehrgroup.com/" TargetMode="External"/><Relationship Id="rId11" Type="http://schemas.openxmlformats.org/officeDocument/2006/relationships/image" Target="../media/image22.png"/><Relationship Id="rId10" Type="http://schemas.openxmlformats.org/officeDocument/2006/relationships/image" Target="../media/image6.png"/><Relationship Id="rId13" Type="http://schemas.openxmlformats.org/officeDocument/2006/relationships/image" Target="../media/image2.png"/><Relationship Id="rId12" Type="http://schemas.openxmlformats.org/officeDocument/2006/relationships/image" Target="../media/image7.png"/><Relationship Id="rId15" Type="http://schemas.openxmlformats.org/officeDocument/2006/relationships/image" Target="../media/image11.png"/><Relationship Id="rId14" Type="http://schemas.openxmlformats.org/officeDocument/2006/relationships/image" Target="../media/image9.png"/><Relationship Id="rId17" Type="http://schemas.openxmlformats.org/officeDocument/2006/relationships/image" Target="../media/image14.gif"/><Relationship Id="rId16" Type="http://schemas.openxmlformats.org/officeDocument/2006/relationships/image" Target="../media/image16.jpg"/><Relationship Id="rId19" Type="http://schemas.openxmlformats.org/officeDocument/2006/relationships/image" Target="../media/image4.png"/><Relationship Id="rId18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3">
            <a:alphaModFix/>
          </a:blip>
          <a:srcRect b="5281" l="11861" r="403" t="63333"/>
          <a:stretch/>
        </p:blipFill>
        <p:spPr>
          <a:xfrm>
            <a:off x="0" y="0"/>
            <a:ext cx="7772401" cy="1421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/>
          <p:cNvPicPr preferRelativeResize="0"/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0" y="339900"/>
            <a:ext cx="7772400" cy="1081526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/>
          <p:nvPr/>
        </p:nvSpPr>
        <p:spPr>
          <a:xfrm>
            <a:off x="227600" y="1145450"/>
            <a:ext cx="2835900" cy="276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3"/>
          <p:cNvSpPr/>
          <p:nvPr/>
        </p:nvSpPr>
        <p:spPr>
          <a:xfrm>
            <a:off x="0" y="9687525"/>
            <a:ext cx="7772400" cy="370800"/>
          </a:xfrm>
          <a:prstGeom prst="rect">
            <a:avLst/>
          </a:prstGeom>
          <a:solidFill>
            <a:srgbClr val="5EBFB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3"/>
          <p:cNvSpPr/>
          <p:nvPr/>
        </p:nvSpPr>
        <p:spPr>
          <a:xfrm>
            <a:off x="6566475" y="9687525"/>
            <a:ext cx="1206000" cy="370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3"/>
          <p:cNvSpPr/>
          <p:nvPr/>
        </p:nvSpPr>
        <p:spPr>
          <a:xfrm>
            <a:off x="2748925" y="9688650"/>
            <a:ext cx="4188300" cy="370800"/>
          </a:xfrm>
          <a:prstGeom prst="rect">
            <a:avLst/>
          </a:prstGeom>
          <a:solidFill>
            <a:srgbClr val="17488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3"/>
          <p:cNvSpPr/>
          <p:nvPr/>
        </p:nvSpPr>
        <p:spPr>
          <a:xfrm>
            <a:off x="456075" y="3347750"/>
            <a:ext cx="4079100" cy="46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50">
                <a:solidFill>
                  <a:srgbClr val="17488B"/>
                </a:solidFill>
                <a:latin typeface="Montserrat"/>
                <a:ea typeface="Montserrat"/>
                <a:cs typeface="Montserrat"/>
                <a:sym typeface="Montserrat"/>
              </a:rPr>
              <a:t>CORE COMPETENCIES </a:t>
            </a:r>
            <a:r>
              <a:rPr lang="en" sz="7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Expertise in EHR implementation from pre to post including EPIC, Oracle Cerner, Veradigm formerly Allscripts, EClinicalWorks, McKesson, NextGen Healthcare, GE Healthcare, Meditech, Athenahealth. Expertise in Data Migration &amp; Security. </a:t>
            </a:r>
            <a:endParaRPr sz="7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750">
                <a:solidFill>
                  <a:srgbClr val="5EBFBC"/>
                </a:solidFill>
                <a:latin typeface="Montserrat"/>
                <a:ea typeface="Montserrat"/>
                <a:cs typeface="Montserrat"/>
                <a:sym typeface="Montserrat"/>
              </a:rPr>
              <a:t>Mission Support Services  ·  Information Management  · Revenue Cycle</a:t>
            </a:r>
            <a:r>
              <a:rPr b="1" lang="en" sz="750">
                <a:solidFill>
                  <a:srgbClr val="5EBFBC"/>
                </a:solidFill>
                <a:latin typeface="Montserrat"/>
                <a:ea typeface="Montserrat"/>
                <a:cs typeface="Montserrat"/>
                <a:sym typeface="Montserrat"/>
              </a:rPr>
              <a:t> Management  ·</a:t>
            </a:r>
            <a:r>
              <a:rPr b="1" lang="en" sz="750">
                <a:solidFill>
                  <a:srgbClr val="5EBFBC"/>
                </a:solidFill>
                <a:latin typeface="Montserrat"/>
                <a:ea typeface="Montserrat"/>
                <a:cs typeface="Montserrat"/>
                <a:sym typeface="Montserrat"/>
              </a:rPr>
              <a:t> Program, Planning &amp; Management Services  ·  Cybersecurity Services &amp; Support  ·  Training Services  ·  Enterprise Customer Service</a:t>
            </a:r>
            <a:endParaRPr b="1" sz="750">
              <a:solidFill>
                <a:srgbClr val="5EBFB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90"/>
              </a:spcBef>
              <a:spcAft>
                <a:spcPts val="0"/>
              </a:spcAft>
              <a:buNone/>
            </a:pPr>
            <a:r>
              <a:t/>
            </a:r>
            <a:endParaRPr b="1" sz="750">
              <a:solidFill>
                <a:srgbClr val="40414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90"/>
              </a:spcBef>
              <a:spcAft>
                <a:spcPts val="0"/>
              </a:spcAft>
              <a:buNone/>
            </a:pPr>
            <a:r>
              <a:t/>
            </a:r>
            <a:endParaRPr b="1" sz="750">
              <a:solidFill>
                <a:srgbClr val="40414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90"/>
              </a:spcBef>
              <a:spcAft>
                <a:spcPts val="0"/>
              </a:spcAft>
              <a:buNone/>
            </a:pPr>
            <a:r>
              <a:t/>
            </a:r>
            <a:endParaRPr sz="750">
              <a:solidFill>
                <a:srgbClr val="40414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90"/>
              </a:spcBef>
              <a:spcAft>
                <a:spcPts val="0"/>
              </a:spcAft>
              <a:buNone/>
            </a:pPr>
            <a:r>
              <a:t/>
            </a:r>
            <a:endParaRPr sz="750">
              <a:solidFill>
                <a:srgbClr val="40414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90"/>
              </a:spcBef>
              <a:spcAft>
                <a:spcPts val="0"/>
              </a:spcAft>
              <a:buNone/>
            </a:pPr>
            <a:r>
              <a:t/>
            </a:r>
            <a:endParaRPr sz="750">
              <a:solidFill>
                <a:srgbClr val="40414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90"/>
              </a:spcBef>
              <a:spcAft>
                <a:spcPts val="0"/>
              </a:spcAft>
              <a:buNone/>
            </a:pPr>
            <a:r>
              <a:t/>
            </a:r>
            <a:endParaRPr sz="750">
              <a:solidFill>
                <a:srgbClr val="40414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90"/>
              </a:spcBef>
              <a:spcAft>
                <a:spcPts val="0"/>
              </a:spcAft>
              <a:buNone/>
            </a:pPr>
            <a:r>
              <a:t/>
            </a:r>
            <a:endParaRPr sz="750">
              <a:solidFill>
                <a:srgbClr val="40414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750">
                <a:solidFill>
                  <a:srgbClr val="17488B"/>
                </a:solidFill>
                <a:latin typeface="Montserrat"/>
                <a:ea typeface="Montserrat"/>
                <a:cs typeface="Montserrat"/>
                <a:sym typeface="Montserrat"/>
              </a:rPr>
              <a:t>DIFFERENTIATORS </a:t>
            </a:r>
            <a:r>
              <a:rPr lang="en" sz="7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Consultant Owned &amp; Operated, Network of 1,000 </a:t>
            </a:r>
            <a:r>
              <a:rPr lang="en" sz="7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consultants</a:t>
            </a:r>
            <a:r>
              <a:rPr lang="en" sz="7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</a:t>
            </a:r>
            <a:endParaRPr sz="7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TNG HIPAA compliant app, DiSCheduler, VA &amp; Unemployment Workforce Development National Training Program, Kliks-Patented EHR specialized Remote help desk support</a:t>
            </a:r>
            <a:endParaRPr sz="7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">
              <a:solidFill>
                <a:srgbClr val="40414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10795" rtl="0" algn="l">
              <a:lnSpc>
                <a:spcPct val="115000"/>
              </a:lnSpc>
              <a:spcBef>
                <a:spcPts val="175"/>
              </a:spcBef>
              <a:spcAft>
                <a:spcPts val="0"/>
              </a:spcAft>
              <a:buNone/>
            </a:pPr>
            <a:r>
              <a:rPr b="1" lang="en" sz="750">
                <a:solidFill>
                  <a:srgbClr val="17488B"/>
                </a:solidFill>
                <a:latin typeface="Montserrat"/>
                <a:ea typeface="Montserrat"/>
                <a:cs typeface="Montserrat"/>
                <a:sym typeface="Montserrat"/>
              </a:rPr>
              <a:t>COMMITTED EXPERTS</a:t>
            </a:r>
            <a:r>
              <a:rPr lang="en" sz="750">
                <a:solidFill>
                  <a:srgbClr val="17488B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750">
                <a:solidFill>
                  <a:srgbClr val="0D0D0D"/>
                </a:solidFill>
                <a:latin typeface="Montserrat"/>
                <a:ea typeface="Montserrat"/>
                <a:cs typeface="Montserrat"/>
                <a:sym typeface="Montserrat"/>
              </a:rPr>
              <a:t>T</a:t>
            </a:r>
            <a:r>
              <a:rPr lang="en" sz="7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NG </a:t>
            </a:r>
            <a:r>
              <a:rPr lang="en" sz="7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consultants</a:t>
            </a:r>
            <a:r>
              <a:rPr lang="en" sz="7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are invited into a network of experts that have extensive EMR and EHR experience and are able to provide top notch oversight and commitment to ensure every project’s success. We enable a streamlined and hassle-free process for healthcare organizations looking to implement electronic health records. Our mission is to help healthcare providers improve patient care and efficiency by simplifying the EHR implementation process.</a:t>
            </a:r>
            <a:endParaRPr sz="7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2700" lvl="0" marL="12700" marR="307975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1" lang="en" sz="750">
                <a:solidFill>
                  <a:srgbClr val="17488B"/>
                </a:solidFill>
                <a:latin typeface="Montserrat"/>
                <a:ea typeface="Montserrat"/>
                <a:cs typeface="Montserrat"/>
                <a:sym typeface="Montserrat"/>
              </a:rPr>
              <a:t>INDUSTRY VETTED</a:t>
            </a:r>
            <a:r>
              <a:rPr b="1" lang="en" sz="7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7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With TNG’s consultant ownership model, clients receive direct access to the most talented and accomplished professionals in the industry, ensuring maximum value at minimal cost. All TNG </a:t>
            </a:r>
            <a:r>
              <a:rPr lang="en" sz="7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consultants</a:t>
            </a:r>
            <a:r>
              <a:rPr lang="en" sz="7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undergo rigorous vetting before joining our ranks, guaranteeing exceptional skill levels across all service areas.</a:t>
            </a:r>
            <a:endParaRPr sz="7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1" name="Google Shape;61;p13"/>
          <p:cNvPicPr preferRelativeResize="0"/>
          <p:nvPr/>
        </p:nvPicPr>
        <p:blipFill rotWithShape="1">
          <a:blip r:embed="rId5">
            <a:alphaModFix/>
          </a:blip>
          <a:srcRect b="0" l="0" r="0" t="11418"/>
          <a:stretch/>
        </p:blipFill>
        <p:spPr>
          <a:xfrm>
            <a:off x="429626" y="445231"/>
            <a:ext cx="1106675" cy="35647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3"/>
          <p:cNvSpPr/>
          <p:nvPr/>
        </p:nvSpPr>
        <p:spPr>
          <a:xfrm>
            <a:off x="456075" y="1155025"/>
            <a:ext cx="40209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75"/>
              </a:spcBef>
              <a:spcAft>
                <a:spcPts val="0"/>
              </a:spcAft>
              <a:buNone/>
            </a:pPr>
            <a:r>
              <a:rPr i="0" lang="en" sz="1000" u="none" cap="none" strike="noStrik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 A P A B I L I T Y    S T A T E M E N T</a:t>
            </a:r>
            <a:endParaRPr i="0" sz="1000" u="none" cap="none" strike="noStrike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63" name="Google Shape;63;p13"/>
          <p:cNvSpPr/>
          <p:nvPr/>
        </p:nvSpPr>
        <p:spPr>
          <a:xfrm>
            <a:off x="456082" y="1501817"/>
            <a:ext cx="4079100" cy="12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107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The NICEHR Group (TNG) is the ONLY healthcare IT consultant firm in the industry that is consultant owned and operated. </a:t>
            </a:r>
            <a:endParaRPr i="0" sz="9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10795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i="0" lang="en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We provide the healthcare industry with elite </a:t>
            </a:r>
            <a:r>
              <a:rPr lang="en"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consultants</a:t>
            </a:r>
            <a:r>
              <a:rPr i="0" lang="en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who simplify the EHR implementation along with integrating new technologies to improve the </a:t>
            </a:r>
            <a:r>
              <a:rPr lang="en"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efficiency</a:t>
            </a:r>
            <a:r>
              <a:rPr i="0" lang="en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and quality of patient care. </a:t>
            </a:r>
            <a:endParaRPr i="0" sz="9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10795" rtl="0" algn="l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10795" rtl="0" algn="l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None/>
            </a:pPr>
            <a:r>
              <a:rPr i="0" lang="en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We have a network of over 1,000 </a:t>
            </a:r>
            <a:r>
              <a:rPr lang="en"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consultants</a:t>
            </a:r>
            <a:r>
              <a:rPr i="0" lang="en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 with experience in all aspects of EHR implementation from pre to post.</a:t>
            </a:r>
            <a:endParaRPr i="0" sz="9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4" name="Google Shape;64;p13"/>
          <p:cNvSpPr/>
          <p:nvPr/>
        </p:nvSpPr>
        <p:spPr>
          <a:xfrm>
            <a:off x="4965900" y="1580125"/>
            <a:ext cx="2348700" cy="38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2700" lvl="0" marL="12700" rtl="0" algn="l">
              <a:lnSpc>
                <a:spcPct val="125000"/>
              </a:lnSpc>
              <a:spcBef>
                <a:spcPts val="85"/>
              </a:spcBef>
              <a:spcAft>
                <a:spcPts val="0"/>
              </a:spcAft>
              <a:buNone/>
            </a:pPr>
            <a:r>
              <a:rPr b="1" lang="en" sz="750">
                <a:solidFill>
                  <a:srgbClr val="17488B"/>
                </a:solidFill>
                <a:latin typeface="Montserrat"/>
                <a:ea typeface="Montserrat"/>
                <a:cs typeface="Montserrat"/>
                <a:sym typeface="Montserrat"/>
              </a:rPr>
              <a:t>SET-ASIDE PROGRAMS</a:t>
            </a:r>
            <a:endParaRPr b="1" sz="750">
              <a:solidFill>
                <a:srgbClr val="17488B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93345" lvl="0" marL="91440" rtl="0" algn="l">
              <a:lnSpc>
                <a:spcPct val="125000"/>
              </a:lnSpc>
              <a:spcBef>
                <a:spcPts val="85"/>
              </a:spcBef>
              <a:spcAft>
                <a:spcPts val="0"/>
              </a:spcAft>
              <a:buClr>
                <a:srgbClr val="5EBFBC"/>
              </a:buClr>
              <a:buSzPts val="750"/>
              <a:buFont typeface="Montserrat"/>
              <a:buChar char="●"/>
            </a:pPr>
            <a:r>
              <a:rPr lang="en" sz="7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SBA 8(a) Program Certified</a:t>
            </a:r>
            <a:endParaRPr sz="7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93345" lvl="0" marL="91440" rtl="0" algn="l">
              <a:lnSpc>
                <a:spcPct val="125000"/>
              </a:lnSpc>
              <a:spcBef>
                <a:spcPts val="85"/>
              </a:spcBef>
              <a:spcAft>
                <a:spcPts val="0"/>
              </a:spcAft>
              <a:buClr>
                <a:srgbClr val="5EBFBC"/>
              </a:buClr>
              <a:buSzPts val="750"/>
              <a:buFont typeface="Montserrat"/>
              <a:buChar char="●"/>
            </a:pPr>
            <a:r>
              <a:rPr lang="en" sz="7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Minority-Owned Business</a:t>
            </a:r>
            <a:endParaRPr sz="7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93345" lvl="0" marL="91440" rtl="0" algn="l">
              <a:lnSpc>
                <a:spcPct val="125000"/>
              </a:lnSpc>
              <a:spcBef>
                <a:spcPts val="85"/>
              </a:spcBef>
              <a:spcAft>
                <a:spcPts val="0"/>
              </a:spcAft>
              <a:buClr>
                <a:srgbClr val="5EBFBC"/>
              </a:buClr>
              <a:buSzPts val="750"/>
              <a:buFont typeface="Montserrat"/>
              <a:buChar char="●"/>
            </a:pPr>
            <a:r>
              <a:rPr lang="en" sz="7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Small Business</a:t>
            </a:r>
            <a:endParaRPr sz="7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93345" lvl="0" marL="91440" rtl="0" algn="l">
              <a:lnSpc>
                <a:spcPct val="125000"/>
              </a:lnSpc>
              <a:spcBef>
                <a:spcPts val="85"/>
              </a:spcBef>
              <a:spcAft>
                <a:spcPts val="0"/>
              </a:spcAft>
              <a:buClr>
                <a:srgbClr val="5EBFBC"/>
              </a:buClr>
              <a:buSzPts val="750"/>
              <a:buFont typeface="Montserrat"/>
              <a:buChar char="●"/>
            </a:pPr>
            <a:r>
              <a:rPr lang="en" sz="7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Small Disadvantaged Business</a:t>
            </a:r>
            <a:endParaRPr sz="7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2700" lvl="0" marL="12700" rtl="0" algn="l">
              <a:lnSpc>
                <a:spcPct val="125000"/>
              </a:lnSpc>
              <a:spcBef>
                <a:spcPts val="85"/>
              </a:spcBef>
              <a:spcAft>
                <a:spcPts val="0"/>
              </a:spcAft>
              <a:buNone/>
            </a:pPr>
            <a:r>
              <a:t/>
            </a:r>
            <a:endParaRPr b="1" sz="750">
              <a:solidFill>
                <a:srgbClr val="17488B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2700" lvl="0" marL="12700" rtl="0" algn="l">
              <a:lnSpc>
                <a:spcPct val="125000"/>
              </a:lnSpc>
              <a:spcBef>
                <a:spcPts val="85"/>
              </a:spcBef>
              <a:spcAft>
                <a:spcPts val="0"/>
              </a:spcAft>
              <a:buNone/>
            </a:pPr>
            <a:r>
              <a:rPr b="1" lang="en" sz="750">
                <a:solidFill>
                  <a:srgbClr val="17488B"/>
                </a:solidFill>
                <a:latin typeface="Montserrat"/>
                <a:ea typeface="Montserrat"/>
                <a:cs typeface="Montserrat"/>
                <a:sym typeface="Montserrat"/>
              </a:rPr>
              <a:t>CERTIFICATIONS</a:t>
            </a:r>
            <a:endParaRPr b="1" sz="750">
              <a:solidFill>
                <a:srgbClr val="17488B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93345" lvl="0" marL="91440" marR="0" rtl="0" algn="l">
              <a:lnSpc>
                <a:spcPct val="125000"/>
              </a:lnSpc>
              <a:spcBef>
                <a:spcPts val="85"/>
              </a:spcBef>
              <a:spcAft>
                <a:spcPts val="0"/>
              </a:spcAft>
              <a:buClr>
                <a:srgbClr val="5EBFBC"/>
              </a:buClr>
              <a:buSzPts val="750"/>
              <a:buFont typeface="Montserrat"/>
              <a:buChar char="●"/>
            </a:pPr>
            <a:r>
              <a:rPr lang="en" sz="7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CMMI Level 3 Appraisal</a:t>
            </a:r>
            <a:endParaRPr sz="7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93345" lvl="0" marL="91440" marR="0" rtl="0" algn="l">
              <a:lnSpc>
                <a:spcPct val="125000"/>
              </a:lnSpc>
              <a:spcBef>
                <a:spcPts val="85"/>
              </a:spcBef>
              <a:spcAft>
                <a:spcPts val="0"/>
              </a:spcAft>
              <a:buClr>
                <a:srgbClr val="5EBFBC"/>
              </a:buClr>
              <a:buSzPts val="750"/>
              <a:buFont typeface="Montserrat"/>
              <a:buChar char="●"/>
            </a:pPr>
            <a:r>
              <a:rPr lang="en" sz="7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ISO 9001:2015 QMS</a:t>
            </a:r>
            <a:endParaRPr sz="7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93345" lvl="0" marL="91440" marR="0" rtl="0" algn="l">
              <a:lnSpc>
                <a:spcPct val="125000"/>
              </a:lnSpc>
              <a:spcBef>
                <a:spcPts val="85"/>
              </a:spcBef>
              <a:spcAft>
                <a:spcPts val="0"/>
              </a:spcAft>
              <a:buClr>
                <a:srgbClr val="5EBFBC"/>
              </a:buClr>
              <a:buSzPts val="750"/>
              <a:buFont typeface="Montserrat"/>
              <a:buChar char="●"/>
            </a:pPr>
            <a:r>
              <a:rPr lang="en" sz="7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ISO 8000-110:2009 Data Quality</a:t>
            </a:r>
            <a:endParaRPr sz="7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25000"/>
              </a:lnSpc>
              <a:spcBef>
                <a:spcPts val="85"/>
              </a:spcBef>
              <a:spcAft>
                <a:spcPts val="0"/>
              </a:spcAft>
              <a:buNone/>
            </a:pPr>
            <a:r>
              <a:t/>
            </a:r>
            <a:endParaRPr sz="750">
              <a:solidFill>
                <a:srgbClr val="40414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2700" lvl="0" marL="12700" rtl="0" algn="l">
              <a:lnSpc>
                <a:spcPct val="125000"/>
              </a:lnSpc>
              <a:spcBef>
                <a:spcPts val="85"/>
              </a:spcBef>
              <a:spcAft>
                <a:spcPts val="0"/>
              </a:spcAft>
              <a:buNone/>
            </a:pPr>
            <a:r>
              <a:rPr b="1" lang="en" sz="750">
                <a:solidFill>
                  <a:srgbClr val="17488B"/>
                </a:solidFill>
                <a:latin typeface="Montserrat"/>
                <a:ea typeface="Montserrat"/>
                <a:cs typeface="Montserrat"/>
                <a:sym typeface="Montserrat"/>
              </a:rPr>
              <a:t>INDUSTRY CONNECTIONS</a:t>
            </a:r>
            <a:endParaRPr b="1" sz="750">
              <a:solidFill>
                <a:srgbClr val="17488B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93345" lvl="0" marL="91440" marR="0" rtl="0" algn="l">
              <a:lnSpc>
                <a:spcPct val="125000"/>
              </a:lnSpc>
              <a:spcBef>
                <a:spcPts val="85"/>
              </a:spcBef>
              <a:spcAft>
                <a:spcPts val="0"/>
              </a:spcAft>
              <a:buClr>
                <a:srgbClr val="5EBFBC"/>
              </a:buClr>
              <a:buSzPts val="750"/>
              <a:buFont typeface="Montserrat"/>
              <a:buChar char="●"/>
            </a:pPr>
            <a:r>
              <a:rPr lang="en" sz="750">
                <a:solidFill>
                  <a:srgbClr val="404141"/>
                </a:solidFill>
                <a:latin typeface="Montserrat"/>
                <a:ea typeface="Montserrat"/>
                <a:cs typeface="Montserrat"/>
                <a:sym typeface="Montserrat"/>
              </a:rPr>
              <a:t>Microsoft Certified Partner</a:t>
            </a:r>
            <a:endParaRPr sz="750">
              <a:solidFill>
                <a:srgbClr val="40414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93345" lvl="0" marL="91440" marR="0" rtl="0" algn="l">
              <a:lnSpc>
                <a:spcPct val="125000"/>
              </a:lnSpc>
              <a:spcBef>
                <a:spcPts val="85"/>
              </a:spcBef>
              <a:spcAft>
                <a:spcPts val="0"/>
              </a:spcAft>
              <a:buClr>
                <a:srgbClr val="5EBFBC"/>
              </a:buClr>
              <a:buSzPts val="750"/>
              <a:buFont typeface="Montserrat"/>
              <a:buChar char="●"/>
            </a:pPr>
            <a:r>
              <a:rPr lang="en" sz="750">
                <a:solidFill>
                  <a:srgbClr val="404141"/>
                </a:solidFill>
                <a:latin typeface="Montserrat"/>
                <a:ea typeface="Montserrat"/>
                <a:cs typeface="Montserrat"/>
                <a:sym typeface="Montserrat"/>
              </a:rPr>
              <a:t>Apple Developer</a:t>
            </a:r>
            <a:endParaRPr sz="750">
              <a:solidFill>
                <a:srgbClr val="40414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93345" lvl="0" marL="91440" marR="0" rtl="0" algn="l">
              <a:lnSpc>
                <a:spcPct val="125000"/>
              </a:lnSpc>
              <a:spcBef>
                <a:spcPts val="85"/>
              </a:spcBef>
              <a:spcAft>
                <a:spcPts val="0"/>
              </a:spcAft>
              <a:buClr>
                <a:srgbClr val="5EBFBC"/>
              </a:buClr>
              <a:buSzPts val="750"/>
              <a:buFont typeface="Montserrat"/>
              <a:buChar char="●"/>
            </a:pPr>
            <a:r>
              <a:rPr lang="en" sz="750">
                <a:solidFill>
                  <a:srgbClr val="404141"/>
                </a:solidFill>
                <a:latin typeface="Montserrat"/>
                <a:ea typeface="Montserrat"/>
                <a:cs typeface="Montserrat"/>
                <a:sym typeface="Montserrat"/>
              </a:rPr>
              <a:t>Oracle Partner</a:t>
            </a:r>
            <a:endParaRPr sz="750">
              <a:solidFill>
                <a:srgbClr val="40414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93345" lvl="0" marL="91440" marR="0" rtl="0" algn="l">
              <a:lnSpc>
                <a:spcPct val="125000"/>
              </a:lnSpc>
              <a:spcBef>
                <a:spcPts val="85"/>
              </a:spcBef>
              <a:spcAft>
                <a:spcPts val="0"/>
              </a:spcAft>
              <a:buClr>
                <a:srgbClr val="5EBFBC"/>
              </a:buClr>
              <a:buSzPts val="750"/>
              <a:buFont typeface="Montserrat"/>
              <a:buChar char="●"/>
            </a:pPr>
            <a:r>
              <a:rPr lang="en" sz="750">
                <a:solidFill>
                  <a:srgbClr val="404141"/>
                </a:solidFill>
                <a:latin typeface="Montserrat"/>
                <a:ea typeface="Montserrat"/>
                <a:cs typeface="Montserrat"/>
                <a:sym typeface="Montserrat"/>
              </a:rPr>
              <a:t>Microsoft .NET</a:t>
            </a:r>
            <a:endParaRPr sz="750">
              <a:solidFill>
                <a:srgbClr val="40414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93345" lvl="0" marL="91440" marR="0" rtl="0" algn="l">
              <a:lnSpc>
                <a:spcPct val="125000"/>
              </a:lnSpc>
              <a:spcBef>
                <a:spcPts val="85"/>
              </a:spcBef>
              <a:spcAft>
                <a:spcPts val="0"/>
              </a:spcAft>
              <a:buClr>
                <a:srgbClr val="5EBFBC"/>
              </a:buClr>
              <a:buSzPts val="750"/>
              <a:buFont typeface="Montserrat"/>
              <a:buChar char="●"/>
            </a:pPr>
            <a:r>
              <a:rPr lang="en" sz="750">
                <a:solidFill>
                  <a:srgbClr val="404141"/>
                </a:solidFill>
                <a:latin typeface="Montserrat"/>
                <a:ea typeface="Montserrat"/>
                <a:cs typeface="Montserrat"/>
                <a:sym typeface="Montserrat"/>
              </a:rPr>
              <a:t>Microsoft SQL Server</a:t>
            </a:r>
            <a:endParaRPr sz="750">
              <a:solidFill>
                <a:srgbClr val="40414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93345" lvl="0" marL="91440" marR="0" rtl="0" algn="l">
              <a:lnSpc>
                <a:spcPct val="125000"/>
              </a:lnSpc>
              <a:spcBef>
                <a:spcPts val="85"/>
              </a:spcBef>
              <a:spcAft>
                <a:spcPts val="0"/>
              </a:spcAft>
              <a:buClr>
                <a:srgbClr val="5EBFBC"/>
              </a:buClr>
              <a:buSzPts val="750"/>
              <a:buFont typeface="Montserrat"/>
              <a:buChar char="●"/>
            </a:pPr>
            <a:r>
              <a:rPr lang="en" sz="750">
                <a:solidFill>
                  <a:srgbClr val="404141"/>
                </a:solidFill>
                <a:latin typeface="Montserrat"/>
                <a:ea typeface="Montserrat"/>
                <a:cs typeface="Montserrat"/>
                <a:sym typeface="Montserrat"/>
              </a:rPr>
              <a:t>Microsoft Azure Government</a:t>
            </a:r>
            <a:endParaRPr sz="750">
              <a:solidFill>
                <a:srgbClr val="40414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93345" lvl="0" marL="91440" marR="0" rtl="0" algn="l">
              <a:lnSpc>
                <a:spcPct val="125000"/>
              </a:lnSpc>
              <a:spcBef>
                <a:spcPts val="85"/>
              </a:spcBef>
              <a:spcAft>
                <a:spcPts val="0"/>
              </a:spcAft>
              <a:buClr>
                <a:srgbClr val="5EBFBC"/>
              </a:buClr>
              <a:buSzPts val="750"/>
              <a:buFont typeface="Montserrat"/>
              <a:buChar char="●"/>
            </a:pPr>
            <a:r>
              <a:rPr lang="en" sz="750">
                <a:solidFill>
                  <a:srgbClr val="404141"/>
                </a:solidFill>
                <a:latin typeface="Montserrat"/>
                <a:ea typeface="Montserrat"/>
                <a:cs typeface="Montserrat"/>
                <a:sym typeface="Montserrat"/>
              </a:rPr>
              <a:t>Amazon AWS GovCloud</a:t>
            </a:r>
            <a:endParaRPr sz="750">
              <a:solidFill>
                <a:srgbClr val="40414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25000"/>
              </a:lnSpc>
              <a:spcBef>
                <a:spcPts val="85"/>
              </a:spcBef>
              <a:spcAft>
                <a:spcPts val="0"/>
              </a:spcAft>
              <a:buNone/>
            </a:pPr>
            <a:r>
              <a:t/>
            </a:r>
            <a:endParaRPr b="1" sz="750">
              <a:solidFill>
                <a:srgbClr val="17488B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2700" lvl="0" marL="12700" rtl="0" algn="l">
              <a:lnSpc>
                <a:spcPct val="125000"/>
              </a:lnSpc>
              <a:spcBef>
                <a:spcPts val="8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750">
                <a:solidFill>
                  <a:srgbClr val="17488B"/>
                </a:solidFill>
                <a:latin typeface="Montserrat"/>
                <a:ea typeface="Montserrat"/>
                <a:cs typeface="Montserrat"/>
                <a:sym typeface="Montserrat"/>
              </a:rPr>
              <a:t>NAICS SIC CODES</a:t>
            </a:r>
            <a:endParaRPr b="1" sz="750">
              <a:solidFill>
                <a:srgbClr val="17488B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93345" lvl="0" marL="91440" rtl="0" algn="l">
              <a:lnSpc>
                <a:spcPct val="125000"/>
              </a:lnSpc>
              <a:spcBef>
                <a:spcPts val="85"/>
              </a:spcBef>
              <a:spcAft>
                <a:spcPts val="0"/>
              </a:spcAft>
              <a:buClr>
                <a:srgbClr val="5EBFBC"/>
              </a:buClr>
              <a:buSzPts val="750"/>
              <a:buFont typeface="Montserrat"/>
              <a:buChar char="●"/>
            </a:pPr>
            <a:r>
              <a:rPr b="1" lang="en" sz="7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541611</a:t>
            </a:r>
            <a:r>
              <a:rPr lang="en" sz="7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75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Administrative Management and General Management Consulting Services </a:t>
            </a:r>
            <a:endParaRPr sz="7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93345" lvl="0" marL="91440" rtl="0" algn="l">
              <a:lnSpc>
                <a:spcPct val="125000"/>
              </a:lnSpc>
              <a:spcBef>
                <a:spcPts val="85"/>
              </a:spcBef>
              <a:spcAft>
                <a:spcPts val="0"/>
              </a:spcAft>
              <a:buClr>
                <a:srgbClr val="5EBFBC"/>
              </a:buClr>
              <a:buSzPts val="750"/>
              <a:buFont typeface="Montserrat"/>
              <a:buChar char="●"/>
            </a:pPr>
            <a:r>
              <a:rPr b="1" lang="en" sz="7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8742</a:t>
            </a:r>
            <a:r>
              <a:rPr lang="en" sz="7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75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Management Consulting Services</a:t>
            </a:r>
            <a:endParaRPr sz="7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25000"/>
              </a:lnSpc>
              <a:spcBef>
                <a:spcPts val="85"/>
              </a:spcBef>
              <a:spcAft>
                <a:spcPts val="0"/>
              </a:spcAft>
              <a:buNone/>
            </a:pPr>
            <a:r>
              <a:t/>
            </a:r>
            <a:endParaRPr sz="750">
              <a:solidFill>
                <a:srgbClr val="40414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" name="Google Shape;65;p13"/>
          <p:cNvSpPr txBox="1"/>
          <p:nvPr/>
        </p:nvSpPr>
        <p:spPr>
          <a:xfrm>
            <a:off x="4965900" y="5466300"/>
            <a:ext cx="2348700" cy="2343900"/>
          </a:xfrm>
          <a:prstGeom prst="rect">
            <a:avLst/>
          </a:prstGeom>
          <a:noFill/>
          <a:ln cap="flat" cmpd="sng" w="9525">
            <a:solidFill>
              <a:srgbClr val="5EBF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28600" lIns="228600" spcFirstLastPara="1" rIns="228600" wrap="square" tIns="228600">
            <a:noAutofit/>
          </a:bodyPr>
          <a:lstStyle/>
          <a:p>
            <a:pPr indent="-12700" lvl="0" marL="12700" rtl="0" algn="l">
              <a:lnSpc>
                <a:spcPct val="150000"/>
              </a:lnSpc>
              <a:spcBef>
                <a:spcPts val="33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650">
                <a:solidFill>
                  <a:srgbClr val="5EBFBC"/>
                </a:solidFill>
                <a:latin typeface="Montserrat"/>
                <a:ea typeface="Montserrat"/>
                <a:cs typeface="Montserrat"/>
                <a:sym typeface="Montserrat"/>
              </a:rPr>
              <a:t>CLIENT TESTIMONIAL</a:t>
            </a:r>
            <a:endParaRPr b="1" i="1" sz="650">
              <a:solidFill>
                <a:srgbClr val="5EBFB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6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“I was lucky to work with Rafael in our busy Emergency Department. He trained me during the go-live phase of physician order entry.</a:t>
            </a:r>
            <a:endParaRPr i="1" sz="6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6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6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Rafael’s knowledge and excellent communication skills were the key to making the whole process efficient and stress free.</a:t>
            </a:r>
            <a:endParaRPr i="1" sz="6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6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6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Our hospital decided to retain a small team of go-live staff for some additional training. Our group of physicians unanimously voted for Rafael.”</a:t>
            </a:r>
            <a:endParaRPr i="1" sz="6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6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6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Lee Millward, MD - </a:t>
            </a:r>
            <a:endParaRPr b="1" sz="6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Methodist Fremont Health Medical Center</a:t>
            </a:r>
            <a:endParaRPr sz="6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A picture containing text, font, graphics, typography&#10;&#10;Description automatically generated" id="66" name="Google Shape;66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00364" y="8729296"/>
            <a:ext cx="560133" cy="2759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-up of a sign&#10;&#10;Description automatically generated with medium confidence" id="67" name="Google Shape;67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265673" y="8281590"/>
            <a:ext cx="829489" cy="2236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-up of a logo&#10;&#10;Description automatically generated" id="68" name="Google Shape;68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434057" y="9265169"/>
            <a:ext cx="492747" cy="1542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logo for a health and rehabilitation center&#10;&#10;Description automatically generated with medium confidence" id="69" name="Google Shape;69;p13"/>
          <p:cNvPicPr preferRelativeResize="0"/>
          <p:nvPr/>
        </p:nvPicPr>
        <p:blipFill rotWithShape="1">
          <a:blip r:embed="rId9">
            <a:alphaModFix/>
          </a:blip>
          <a:srcRect b="18658" l="0" r="0" t="33911"/>
          <a:stretch/>
        </p:blipFill>
        <p:spPr>
          <a:xfrm>
            <a:off x="2640198" y="9230423"/>
            <a:ext cx="550931" cy="2236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ack text on a white background&#10;&#10;Description automatically generated with medium confidence" id="70" name="Google Shape;70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640206" y="8262421"/>
            <a:ext cx="550915" cy="2620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text on a white background&#10;&#10;Description automatically generated with low confidence" id="71" name="Google Shape;71;p1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615334" y="8724437"/>
            <a:ext cx="600671" cy="285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-up of a logo&#10;&#10;Description automatically generated with medium confidence" id="72" name="Google Shape;72;p1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778724" y="9220783"/>
            <a:ext cx="926986" cy="2429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ack background with white text&#10;&#10;Description automatically generated with low confidence" id="73" name="Google Shape;73;p1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3827472" y="8765830"/>
            <a:ext cx="829489" cy="2028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-up of a logo&#10;&#10;Description automatically generated with medium confidence" id="74" name="Google Shape;74;p13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3863525" y="8287566"/>
            <a:ext cx="757375" cy="2117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-up of a logo&#10;&#10;Description automatically generated with low confidence" id="75" name="Google Shape;75;p13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6602315" y="8780891"/>
            <a:ext cx="681570" cy="1727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-up of a logo&#10;&#10;Description automatically generated with medium confidence" id="76" name="Google Shape;76;p13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6566486" y="8282676"/>
            <a:ext cx="753236" cy="2215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-up of a logo&#10;&#10;Description automatically generated with medium confidence" id="77" name="Google Shape;77;p13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6637221" y="9267204"/>
            <a:ext cx="611757" cy="150136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3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5419521" y="9156865"/>
            <a:ext cx="433145" cy="3708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text, font, logo, symbol&#10;&#10;Description automatically generated" id="79" name="Google Shape;79;p13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5386852" y="8251179"/>
            <a:ext cx="498485" cy="2845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-up of a logo&#10;&#10;Description automatically generated" id="80" name="Google Shape;80;p13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5335636" y="8738670"/>
            <a:ext cx="600915" cy="257225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3"/>
          <p:cNvSpPr txBox="1"/>
          <p:nvPr/>
        </p:nvSpPr>
        <p:spPr>
          <a:xfrm>
            <a:off x="457200" y="8036697"/>
            <a:ext cx="759900" cy="16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67">
                <a:solidFill>
                  <a:srgbClr val="5EBFBC"/>
                </a:solidFill>
                <a:latin typeface="Montserrat"/>
                <a:ea typeface="Montserrat"/>
                <a:cs typeface="Montserrat"/>
                <a:sym typeface="Montserrat"/>
              </a:rPr>
              <a:t>CLIENTS</a:t>
            </a:r>
            <a:endParaRPr b="1" sz="767">
              <a:solidFill>
                <a:srgbClr val="5EBFB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" name="Google Shape;82;p13"/>
          <p:cNvSpPr/>
          <p:nvPr/>
        </p:nvSpPr>
        <p:spPr>
          <a:xfrm>
            <a:off x="1861926" y="424550"/>
            <a:ext cx="24537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10795" rtl="0" algn="l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None/>
            </a:pPr>
            <a:r>
              <a:rPr b="1" lang="en" sz="65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© 2024  </a:t>
            </a:r>
            <a:r>
              <a:rPr b="1" lang="en" sz="65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NATIONAL INDEPENDENT CONSULTANTS </a:t>
            </a:r>
            <a:endParaRPr b="1" sz="65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10795" rtl="0" algn="l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None/>
            </a:pPr>
            <a:r>
              <a:rPr b="1" lang="en" sz="65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OF ELECTRONIC HEALTHCARE RECORDS</a:t>
            </a:r>
            <a:endParaRPr b="1" sz="65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" name="Google Shape;83;p13"/>
          <p:cNvSpPr/>
          <p:nvPr/>
        </p:nvSpPr>
        <p:spPr>
          <a:xfrm>
            <a:off x="457200" y="8027650"/>
            <a:ext cx="6858000" cy="9000"/>
          </a:xfrm>
          <a:prstGeom prst="rect">
            <a:avLst/>
          </a:prstGeom>
          <a:solidFill>
            <a:srgbClr val="5EBFB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4" name="Google Shape;84;p13"/>
          <p:cNvCxnSpPr/>
          <p:nvPr/>
        </p:nvCxnSpPr>
        <p:spPr>
          <a:xfrm>
            <a:off x="473108" y="3179128"/>
            <a:ext cx="4066500" cy="0"/>
          </a:xfrm>
          <a:prstGeom prst="straightConnector1">
            <a:avLst/>
          </a:prstGeom>
          <a:noFill/>
          <a:ln cap="flat" cmpd="sng" w="9525">
            <a:solidFill>
              <a:srgbClr val="5EBFB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5" name="Google Shape;85;p13"/>
          <p:cNvSpPr/>
          <p:nvPr/>
        </p:nvSpPr>
        <p:spPr>
          <a:xfrm>
            <a:off x="5939900" y="457475"/>
            <a:ext cx="1374600" cy="193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2700" lvl="0" marL="12700" rtl="0" algn="ctr">
              <a:lnSpc>
                <a:spcPct val="88333"/>
              </a:lnSpc>
              <a:spcBef>
                <a:spcPts val="85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DUNS</a:t>
            </a:r>
            <a:r>
              <a:rPr lang="en" sz="6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:078606581      </a:t>
            </a:r>
            <a:r>
              <a:rPr b="1" lang="en" sz="6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CAGE</a:t>
            </a:r>
            <a:r>
              <a:rPr lang="en" sz="6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: 7CTE3</a:t>
            </a:r>
            <a:endParaRPr sz="600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A picture containing text, clipart&#10;&#10;Description automatically generated" id="86" name="Google Shape;86;p13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3072618" y="4650842"/>
            <a:ext cx="313092" cy="1341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&#10;&#10;Description automatically generated" id="87" name="Google Shape;87;p13"/>
          <p:cNvPicPr preferRelativeResize="0"/>
          <p:nvPr/>
        </p:nvPicPr>
        <p:blipFill rotWithShape="1">
          <a:blip r:embed="rId22">
            <a:alphaModFix/>
          </a:blip>
          <a:srcRect b="0" l="0" r="0" t="36134"/>
          <a:stretch/>
        </p:blipFill>
        <p:spPr>
          <a:xfrm>
            <a:off x="467233" y="4650842"/>
            <a:ext cx="539012" cy="1936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, company name&#10;&#10;Description automatically generated" id="88" name="Google Shape;88;p13"/>
          <p:cNvPicPr preferRelativeResize="0"/>
          <p:nvPr/>
        </p:nvPicPr>
        <p:blipFill rotWithShape="1">
          <a:blip r:embed="rId23">
            <a:alphaModFix/>
          </a:blip>
          <a:srcRect b="-10" l="28339" r="28334" t="10"/>
          <a:stretch/>
        </p:blipFill>
        <p:spPr>
          <a:xfrm>
            <a:off x="458858" y="5020346"/>
            <a:ext cx="673589" cy="2151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&#10;&#10;Description automatically generated" id="89" name="Google Shape;89;p13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3702480" y="4640258"/>
            <a:ext cx="728594" cy="141203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3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1301966" y="5076695"/>
            <a:ext cx="415804" cy="152722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3"/>
          <p:cNvPicPr preferRelativeResize="0"/>
          <p:nvPr/>
        </p:nvPicPr>
        <p:blipFill rotWithShape="1">
          <a:blip r:embed="rId26">
            <a:alphaModFix/>
          </a:blip>
          <a:srcRect b="0" l="2079" r="2079" t="-10"/>
          <a:stretch/>
        </p:blipFill>
        <p:spPr>
          <a:xfrm>
            <a:off x="3072618" y="5026665"/>
            <a:ext cx="577852" cy="252763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3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2152862" y="4650842"/>
            <a:ext cx="602951" cy="78918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3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2152862" y="5073373"/>
            <a:ext cx="652263" cy="159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3"/>
          <p:cNvPicPr preferRelativeResize="0"/>
          <p:nvPr/>
        </p:nvPicPr>
        <p:blipFill rotWithShape="1">
          <a:blip r:embed="rId29">
            <a:alphaModFix/>
          </a:blip>
          <a:srcRect b="29899" l="0" r="0" t="29903"/>
          <a:stretch/>
        </p:blipFill>
        <p:spPr>
          <a:xfrm>
            <a:off x="1285216" y="4642587"/>
            <a:ext cx="652275" cy="145663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3"/>
          <p:cNvSpPr/>
          <p:nvPr/>
        </p:nvSpPr>
        <p:spPr>
          <a:xfrm>
            <a:off x="1689300" y="411711"/>
            <a:ext cx="10500" cy="333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2832600" y="9687450"/>
            <a:ext cx="40209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12700" rtl="0" algn="ctr">
              <a:spcBef>
                <a:spcPts val="9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800">
                <a:solidFill>
                  <a:schemeClr val="lt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TheNICEHRGroup.com</a:t>
            </a:r>
            <a:r>
              <a:rPr b="1" lang="en" sz="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   ·     212-203-3513    ·    info@thenicehrgroup.com</a:t>
            </a:r>
            <a:endParaRPr b="1" sz="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